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135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yQ96Fc0+WCSJR+S0jTQDScy+K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6d3f4b29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f6d3f4b291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6d3f4b29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f6d3f4b291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6d3f4b2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6d3f4b291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关系图" id="18" name="Google Shape;18;p22"/>
          <p:cNvPicPr preferRelativeResize="0"/>
          <p:nvPr/>
        </p:nvPicPr>
        <p:blipFill rotWithShape="1">
          <a:blip r:embed="rId2">
            <a:alphaModFix/>
          </a:blip>
          <a:srcRect b="10909" l="0" r="2528" t="0"/>
          <a:stretch/>
        </p:blipFill>
        <p:spPr>
          <a:xfrm>
            <a:off x="239172" y="692150"/>
            <a:ext cx="11884464" cy="6110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2"/>
          <p:cNvSpPr/>
          <p:nvPr/>
        </p:nvSpPr>
        <p:spPr>
          <a:xfrm>
            <a:off x="2117" y="549275"/>
            <a:ext cx="12191365" cy="1511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8080">
                  <a:alpha val="5411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2544101" y="2492375"/>
            <a:ext cx="7393132" cy="12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type="ctrTitle"/>
          </p:nvPr>
        </p:nvSpPr>
        <p:spPr>
          <a:xfrm>
            <a:off x="1007481" y="620713"/>
            <a:ext cx="1036266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609568" y="1600200"/>
            <a:ext cx="1097222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1807" y="1709738"/>
            <a:ext cx="1051505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31807" y="4589463"/>
            <a:ext cx="1051505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609568" y="1600200"/>
            <a:ext cx="538452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6197277" y="1600200"/>
            <a:ext cx="538452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840274" y="365125"/>
            <a:ext cx="105150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40274" y="1681163"/>
            <a:ext cx="515804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840274" y="2505075"/>
            <a:ext cx="515804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6171879" y="1681163"/>
            <a:ext cx="518344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6171879" y="2505075"/>
            <a:ext cx="518344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40274" y="457200"/>
            <a:ext cx="393256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447" y="987425"/>
            <a:ext cx="6171879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40274" y="2057400"/>
            <a:ext cx="3932562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40274" y="457200"/>
            <a:ext cx="393256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447" y="987425"/>
            <a:ext cx="6171879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40274" y="2057400"/>
            <a:ext cx="3932562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832701" y="-1622933"/>
            <a:ext cx="4525963" cy="10972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284506" y="1828872"/>
            <a:ext cx="5851525" cy="2743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696796" y="-812591"/>
            <a:ext cx="5851525" cy="8025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5" name="Google Shape;115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2117" y="333375"/>
            <a:ext cx="12191365" cy="10096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8080">
                  <a:alpha val="5411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关系图" id="7" name="Google Shape;7;p18"/>
          <p:cNvPicPr preferRelativeResize="0"/>
          <p:nvPr/>
        </p:nvPicPr>
        <p:blipFill rotWithShape="1">
          <a:blip r:embed="rId1">
            <a:alphaModFix/>
          </a:blip>
          <a:srcRect b="13318" l="0" r="8122" t="1094"/>
          <a:stretch/>
        </p:blipFill>
        <p:spPr>
          <a:xfrm>
            <a:off x="7729664" y="4438650"/>
            <a:ext cx="445323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8"/>
          <p:cNvSpPr txBox="1"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" type="body"/>
          </p:nvPr>
        </p:nvSpPr>
        <p:spPr>
          <a:xfrm>
            <a:off x="609568" y="1600200"/>
            <a:ext cx="1097222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0" type="dt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1" type="ftr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Kalya_Logo" id="163" name="Google Shape;1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" y="0"/>
            <a:ext cx="1218501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640080" y="1325880"/>
            <a:ext cx="6167755" cy="2091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AI-Powered Phishing</a:t>
            </a:r>
            <a:br>
              <a:rPr b="1" i="0" lang="en-US" sz="3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 Detector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Logical concepts • Machine Learning • Desktop &amp; Web GUI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Detect • Protect • Prevent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640080" y="52578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/>
          </a:p>
        </p:txBody>
      </p:sp>
      <p:sp>
        <p:nvSpPr>
          <p:cNvPr id="186" name="Google Shape;186;p2"/>
          <p:cNvSpPr/>
          <p:nvPr/>
        </p:nvSpPr>
        <p:spPr>
          <a:xfrm>
            <a:off x="2471928" y="52578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Clean Text</a:t>
            </a:r>
            <a:endParaRPr/>
          </a:p>
        </p:txBody>
      </p:sp>
      <p:sp>
        <p:nvSpPr>
          <p:cNvPr id="187" name="Google Shape;187;p2"/>
          <p:cNvSpPr/>
          <p:nvPr/>
        </p:nvSpPr>
        <p:spPr>
          <a:xfrm>
            <a:off x="4303776" y="52578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/>
          </a:p>
        </p:txBody>
      </p:sp>
      <p:sp>
        <p:nvSpPr>
          <p:cNvPr id="188" name="Google Shape;188;p2"/>
          <p:cNvSpPr/>
          <p:nvPr/>
        </p:nvSpPr>
        <p:spPr>
          <a:xfrm>
            <a:off x="6135624" y="52578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ML Model</a:t>
            </a:r>
            <a:endParaRPr/>
          </a:p>
        </p:txBody>
      </p:sp>
      <p:sp>
        <p:nvSpPr>
          <p:cNvPr id="189" name="Google Shape;189;p2"/>
          <p:cNvSpPr/>
          <p:nvPr/>
        </p:nvSpPr>
        <p:spPr>
          <a:xfrm>
            <a:off x="7967472" y="52578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</p:txBody>
      </p:sp>
      <p:sp>
        <p:nvSpPr>
          <p:cNvPr id="190" name="Google Shape;190;p2"/>
          <p:cNvSpPr/>
          <p:nvPr/>
        </p:nvSpPr>
        <p:spPr>
          <a:xfrm>
            <a:off x="9799320" y="52578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SAFE / PHISHING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PYTHON + VS CODE</a:t>
            </a:r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Workshop Goal &amp; Technology Setup</a:t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640080" y="1417320"/>
            <a:ext cx="3246120" cy="182880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 → text processing → machine learning → SAFE / PHISHING</a:t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4160520" y="1417320"/>
            <a:ext cx="3246120" cy="182880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Core Tools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Python 3.11+, VS Code, virtual environment</a:t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7680960" y="1417320"/>
            <a:ext cx="3246120" cy="182880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ML Stack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Pandas, Scikit-learn, TF-IDF, Logistic Regression, Joblib</a:t>
            </a:r>
            <a:endParaRPr/>
          </a:p>
        </p:txBody>
      </p:sp>
      <p:sp>
        <p:nvSpPr>
          <p:cNvPr id="216" name="Google Shape;216;p3"/>
          <p:cNvSpPr txBox="1"/>
          <p:nvPr/>
        </p:nvSpPr>
        <p:spPr>
          <a:xfrm>
            <a:off x="822960" y="379476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Learning principle: understand the pipeline before building the interface.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 = desktop GUI; Streamlit = web-based GUI.</a:t>
            </a:r>
            <a:endParaRPr/>
          </a:p>
        </p:txBody>
      </p:sp>
      <p:sp>
        <p:nvSpPr>
          <p:cNvPr id="217" name="Google Shape;217;p3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PROJECT STRUCTURE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Project Environment &amp; Structure</a:t>
            </a:r>
            <a:endParaRPr/>
          </a:p>
        </p:txBody>
      </p:sp>
      <p:sp>
        <p:nvSpPr>
          <p:cNvPr id="239" name="Google Shape;239;p4"/>
          <p:cNvSpPr txBox="1"/>
          <p:nvPr/>
        </p:nvSpPr>
        <p:spPr>
          <a:xfrm>
            <a:off x="685800" y="1417320"/>
            <a:ext cx="704088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Create project: AI_Phishing_Detector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Create and activate venv; select the venv interpreter in VS Code.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Install pandas, scikit-learn, joblib, streamlit, matplotlib.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 is normally included with standard Python installations.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8046720" y="1417320"/>
            <a:ext cx="3246120" cy="35661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Project Files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emails.csv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train_model.py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app.py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tkinter_app.py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phishing_model.pkl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tfidf_vectorizer.pkl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requirements.txt</a:t>
            </a:r>
            <a:endParaRPr/>
          </a:p>
        </p:txBody>
      </p:sp>
      <p:sp>
        <p:nvSpPr>
          <p:cNvPr id="241" name="Google Shape;241;p4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Create the Email Dataset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1EBF5"/>
                </a:solidFill>
                <a:latin typeface="Arial"/>
                <a:ea typeface="Arial"/>
                <a:cs typeface="Arial"/>
                <a:sym typeface="Arial"/>
              </a:rPr>
              <a:t>Labeled examples provide the learning foundation.</a:t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640080" y="1417320"/>
            <a:ext cx="5120640" cy="35661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SAFE Examples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Monthly bill is ready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Project meeting is tomorrow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Order has been delivered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Appointment is confirmed</a:t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6080760" y="1417320"/>
            <a:ext cx="5120640" cy="35661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D23C4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23C46"/>
                </a:solidFill>
                <a:latin typeface="Arial"/>
                <a:ea typeface="Arial"/>
                <a:cs typeface="Arial"/>
                <a:sym typeface="Arial"/>
              </a:rPr>
              <a:t>PHISHING Examples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Urgent verify your account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Account suspended — click here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Confirm banking information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Password will expire — verify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640080" y="548640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emails.csv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3387852" y="548640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6135624" y="548640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8883396" y="548640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Learning Examples</a:t>
            </a:r>
            <a:endParaRPr/>
          </a:p>
        </p:txBody>
      </p:sp>
      <p:sp>
        <p:nvSpPr>
          <p:cNvPr id="269" name="Google Shape;269;p5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NLP PREPROCESSING</a:t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Read Dataset &amp; Clean Text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685800" y="1417320"/>
            <a:ext cx="73152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Read emails.csv using Pandas.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Separate input text (X) and target label (y).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Convert text to lowercase.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Remove non-alphabetic characters and normalize whitespace.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Return clean text ready for feature extraction.</a:t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640080" y="54864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Raw Email</a:t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2838297" y="54864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Lowercase</a:t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5036515" y="54864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Remove Noise</a:t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7234732" y="54864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Normalize Spaces</a:t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9432950" y="54864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Clean Text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 / Test Split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1EBF5"/>
                </a:solidFill>
                <a:latin typeface="Arial"/>
                <a:ea typeface="Arial"/>
                <a:cs typeface="Arial"/>
                <a:sym typeface="Arial"/>
              </a:rPr>
              <a:t>Separate learning data from unseen evaluation data.</a:t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731520" y="1508760"/>
            <a:ext cx="2926080" cy="21945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Used to learn patterns from labeled emails.</a:t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3886200" y="1508760"/>
            <a:ext cx="2926080" cy="21945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Used to check performance on unseen examples.</a:t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7040880" y="1508760"/>
            <a:ext cx="2926080" cy="21945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Stratification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Preserves class proportions during the split.</a:t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822960" y="416052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train_test_split(..., test_size=0.25, random_state=42, stratify=y)</a:t>
            </a:r>
            <a:endParaRPr/>
          </a:p>
        </p:txBody>
      </p:sp>
      <p:sp>
        <p:nvSpPr>
          <p:cNvPr id="323" name="Google Shape;323;p7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TF-IDF / NLP</a:t>
            </a:r>
            <a:endParaRPr/>
          </a:p>
        </p:txBody>
      </p:sp>
      <p:sp>
        <p:nvSpPr>
          <p:cNvPr id="344" name="Google Shape;344;p8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TF-IDF: Convert Words into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1EBF5"/>
                </a:solidFill>
                <a:latin typeface="Arial"/>
                <a:ea typeface="Arial"/>
                <a:cs typeface="Arial"/>
                <a:sym typeface="Arial"/>
              </a:rPr>
              <a:t>Term Frequency–Inverse Document Frequency represents text numerically.</a:t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731520" y="1417320"/>
            <a:ext cx="324612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Term Frequency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Measures how strongly a term appears in a document.</a:t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4251960" y="1417320"/>
            <a:ext cx="324612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Inverse Document Frequency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Reduces the importance of terms common across documents.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7772400" y="1417320"/>
            <a:ext cx="324612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N-grams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Workshop setting: unigrams + bigrams (1,2).</a:t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640080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Clean Text</a:t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3387852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TF-IDF fit_transform</a:t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6135624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Numeric Features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8883396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ML Training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 the Machine Learning Model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685800" y="1417320"/>
            <a:ext cx="7498079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Create TfidfVectorizer with English stop words and 1–2 word n-grams.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Fit the vectorizer on training text only.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Transform test text using the fitted vectorizer.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 LogisticRegression(max_iter=1000).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Output: Training completed.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8229600" y="1417320"/>
            <a:ext cx="3017520" cy="320040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Key Rule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Training → fit_transform()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Testing → transform()</a:t>
            </a:r>
            <a:endParaRPr/>
          </a:p>
        </p:txBody>
      </p:sp>
      <p:sp>
        <p:nvSpPr>
          <p:cNvPr id="376" name="Google Shape;376;p9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endParaRPr/>
          </a:p>
        </p:txBody>
      </p:sp>
      <p:sp>
        <p:nvSpPr>
          <p:cNvPr id="397" name="Google Shape;397;p10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Prediction &amp; Model Evaluation</a:t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640080" y="1417320"/>
            <a:ext cx="214884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Overall proportion of correct predictions.</a:t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2926080" y="1417320"/>
            <a:ext cx="214884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Reliability of positive/phishing predictions.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212080" y="1417320"/>
            <a:ext cx="214884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How much of the phishing class is detected.</a:t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7498079" y="1417320"/>
            <a:ext cx="214884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D23C4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23C46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Balance between precision and recall.</a:t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9784080" y="1417320"/>
            <a:ext cx="1737360" cy="237744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91A0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Confusion</a:t>
            </a:r>
            <a:br>
              <a:rPr b="1" i="0" lang="en-US" sz="16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Class-wise prediction errors.</a:t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40080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Test Features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3387852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model.predict()</a:t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6135624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y_pred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8883396" y="5440680"/>
            <a:ext cx="2638044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classification_report</a:t>
            </a:r>
            <a:endParaRPr/>
          </a:p>
        </p:txBody>
      </p:sp>
      <p:sp>
        <p:nvSpPr>
          <p:cNvPr id="407" name="Google Shape;407;p10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MODEL PERSISTENCE</a:t>
            </a:r>
            <a:endParaRPr/>
          </a:p>
        </p:txBody>
      </p:sp>
      <p:sp>
        <p:nvSpPr>
          <p:cNvPr id="428" name="Google Shape;428;p11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Save &amp; Reuse the Trained Model</a:t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822960" y="1463040"/>
            <a:ext cx="4572000" cy="228600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joblib.dump(model, phishing_model.pkl)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joblib.dump(vectorizer, tfidf_vectorizer.pkl)</a:t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715000" y="1463040"/>
            <a:ext cx="4572000" cy="228600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Reuse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Load both .pkl files → transform new email → predict label.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640080" y="544068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2838297" y="544068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5036515" y="544068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Save .pkl</a:t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7234732" y="544068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Load .pkl</a:t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9432950" y="544068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Predict New Email</a:t>
            </a:r>
            <a:endParaRPr/>
          </a:p>
        </p:txBody>
      </p:sp>
      <p:sp>
        <p:nvSpPr>
          <p:cNvPr id="436" name="Google Shape;436;p11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TKINTER DESKTOP</a:t>
            </a:r>
            <a:endParaRPr/>
          </a:p>
        </p:txBody>
      </p:sp>
      <p:sp>
        <p:nvSpPr>
          <p:cNvPr id="457" name="Google Shape;457;p12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 Desktop GUI</a:t>
            </a:r>
            <a:endParaRPr/>
          </a:p>
        </p:txBody>
      </p:sp>
      <p:sp>
        <p:nvSpPr>
          <p:cNvPr id="458" name="Google Shape;458;p12"/>
          <p:cNvSpPr txBox="1"/>
          <p:nvPr/>
        </p:nvSpPr>
        <p:spPr>
          <a:xfrm>
            <a:off x="685800" y="1417320"/>
            <a:ext cx="71323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Load model + vectorizer.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Enter email text in a Text widget.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Check Email → TF-IDF transform → model prediction.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Display PHISHING EMAIL or EMAIL APPEARS SAFE.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Clear button resets the input and result.</a:t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8046720" y="1417320"/>
            <a:ext cx="3291840" cy="338328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Application Flow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 Window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Enter Email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Check Email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ML Model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sp>
        <p:nvSpPr>
          <p:cNvPr id="460" name="Google Shape;460;p12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STREAMLIT WEB APP</a:t>
            </a:r>
            <a:endParaRPr/>
          </a:p>
        </p:txBody>
      </p:sp>
      <p:sp>
        <p:nvSpPr>
          <p:cNvPr id="481" name="Google Shape;481;p13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Streamlit Web GUI</a:t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731520" y="1417320"/>
            <a:ext cx="3246120" cy="292608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st.text_area("Enter Email Text")</a:t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4251960" y="1417320"/>
            <a:ext cx="3246120" cy="292608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vectorizer.transform([email])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model.predict()</a:t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7772400" y="1417320"/>
            <a:ext cx="3246120" cy="292608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PHISHING EMAIL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 APPEARS SAFE</a:t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640080" y="5440680"/>
            <a:ext cx="3553968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Python ML Model</a:t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4303776" y="5440680"/>
            <a:ext cx="3553968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 Desktop</a:t>
            </a: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7967472" y="5440680"/>
            <a:ext cx="3553968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Streamlit Web</a:t>
            </a:r>
            <a:endParaRPr/>
          </a:p>
        </p:txBody>
      </p:sp>
      <p:sp>
        <p:nvSpPr>
          <p:cNvPr id="488" name="Google Shape;488;p13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END-TO-END ARCHITECTURE</a:t>
            </a:r>
            <a:endParaRPr/>
          </a:p>
        </p:txBody>
      </p:sp>
      <p:sp>
        <p:nvSpPr>
          <p:cNvPr id="509" name="Google Shape;509;p14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Final Workshop Architecture</a:t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640080" y="16002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emails.csv</a:t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2471928" y="16002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4303776" y="16002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6135624" y="16002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7967472" y="16002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9799320" y="16002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640080" y="29718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Save Model</a:t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2838297" y="29718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 GUI</a:t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5036515" y="29718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Streamlit GUI</a:t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7234732" y="29718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User Email</a:t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9432950" y="2971800"/>
            <a:ext cx="2088489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SAFE / PHISHING</a:t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1920240" y="4251960"/>
            <a:ext cx="8229600" cy="109728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Python 3.11+ • VS Code • venv • Pandas • Scikit-learn • TF-IDF • Logistic Regression • Joblib • Tkinter • Streamlit • Matplotlib (Optional)</a:t>
            </a:r>
            <a:endParaRPr/>
          </a:p>
        </p:txBody>
      </p:sp>
      <p:sp>
        <p:nvSpPr>
          <p:cNvPr id="522" name="Google Shape;522;p14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185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GIT + GITHUB</a:t>
            </a:r>
            <a:endParaRPr/>
          </a:p>
        </p:txBody>
      </p:sp>
      <p:sp>
        <p:nvSpPr>
          <p:cNvPr id="543" name="Google Shape;543;p15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GitHub: Version Control &amp; Sharing</a:t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640080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Write Code</a:t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2210235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Test Code</a:t>
            </a: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3780390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 status</a:t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5350546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 add .</a:t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6920701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8490857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10061012" y="1508760"/>
            <a:ext cx="1460427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551" name="Google Shape;551;p15"/>
          <p:cNvSpPr txBox="1"/>
          <p:nvPr/>
        </p:nvSpPr>
        <p:spPr>
          <a:xfrm>
            <a:off x="777240" y="2788920"/>
            <a:ext cx="10149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Create .gitignore: venv/, __pycache__/, *.pyc, .env, .vscode/.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Initialize: git init → git add . → git commit.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Connect remote → branch main → git push.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Never commit passwords, API keys, access tokens, .env secrets or sensitive credentials.</a:t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7315200" y="64008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7315200" y="56692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7315200" y="138988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7818120" y="131673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7315200" y="2139696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7315200" y="2889504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8823960" y="2816352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7315200" y="3639311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9326880" y="3566159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7315200" y="4389120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9829800" y="4315968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7315200" y="5138928"/>
            <a:ext cx="4297680" cy="16459"/>
          </a:xfrm>
          <a:prstGeom prst="rect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10332720" y="5065776"/>
            <a:ext cx="146304" cy="146304"/>
          </a:xfrm>
          <a:prstGeom prst="ellipse">
            <a:avLst/>
          </a:prstGeom>
          <a:solidFill>
            <a:srgbClr val="23BE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 txBox="1"/>
          <p:nvPr/>
        </p:nvSpPr>
        <p:spPr>
          <a:xfrm>
            <a:off x="9418320" y="62910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STUDENT TAKEAWAY</a:t>
            </a:r>
            <a:endParaRPr/>
          </a:p>
        </p:txBody>
      </p:sp>
      <p:sp>
        <p:nvSpPr>
          <p:cNvPr id="573" name="Google Shape;573;p16"/>
          <p:cNvSpPr txBox="1"/>
          <p:nvPr/>
        </p:nvSpPr>
        <p:spPr>
          <a:xfrm>
            <a:off x="594360" y="384048"/>
            <a:ext cx="74980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Student Takeaway &amp; Real-Time Learning Flow</a:t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731520" y="1371600"/>
            <a:ext cx="3383280" cy="35661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3BED2"/>
                </a:solidFill>
                <a:latin typeface="Arial"/>
                <a:ea typeface="Arial"/>
                <a:cs typeface="Arial"/>
                <a:sym typeface="Arial"/>
              </a:rPr>
              <a:t>Core Concept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Preprocessing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TF-IDF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ML Training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Evaluation</a:t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4389120" y="1371600"/>
            <a:ext cx="3383280" cy="35661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2D9B5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9B5F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Save Model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Load Model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Tkinter / Streamlit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User Email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→ Prediction</a:t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8046720" y="1371600"/>
            <a:ext cx="3383280" cy="3566160"/>
          </a:xfrm>
          <a:prstGeom prst="roundRect">
            <a:avLst>
              <a:gd fmla="val 16667" name="adj"/>
            </a:avLst>
          </a:prstGeom>
          <a:solidFill>
            <a:srgbClr val="142743"/>
          </a:solidFill>
          <a:ln cap="flat" cmpd="sng" w="9525">
            <a:solidFill>
              <a:srgbClr val="185A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5AA0"/>
                </a:solidFill>
                <a:latin typeface="Arial"/>
                <a:ea typeface="Arial"/>
                <a:cs typeface="Arial"/>
                <a:sym typeface="Arial"/>
              </a:rPr>
              <a:t>Key Technologies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Joblib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Tkinter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b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640080" y="54864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2471928" y="54864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4303776" y="54864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6135624" y="54864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7967472" y="54864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9799320" y="5486400"/>
            <a:ext cx="1722120" cy="566928"/>
          </a:xfrm>
          <a:prstGeom prst="roundRect">
            <a:avLst>
              <a:gd fmla="val 16667" name="adj"/>
            </a:avLst>
          </a:prstGeom>
          <a:solidFill>
            <a:srgbClr val="163052"/>
          </a:solidFill>
          <a:ln cap="flat" cmpd="sng" w="9525">
            <a:solidFill>
              <a:srgbClr val="23BED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Share</a:t>
            </a:r>
            <a:endParaRPr/>
          </a:p>
        </p:txBody>
      </p:sp>
      <p:sp>
        <p:nvSpPr>
          <p:cNvPr id="583" name="Google Shape;583;p16"/>
          <p:cNvSpPr txBox="1"/>
          <p:nvPr/>
        </p:nvSpPr>
        <p:spPr>
          <a:xfrm>
            <a:off x="11292840" y="2286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1A0B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30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8" name="Google Shape;588;p17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9" name="Google Shape;589;p17"/>
          <p:cNvCxnSpPr/>
          <p:nvPr/>
        </p:nvCxnSpPr>
        <p:spPr>
          <a:xfrm>
            <a:off x="201168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0" name="Google Shape;590;p17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1" name="Google Shape;591;p17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2" name="Google Shape;592;p17"/>
          <p:cNvCxnSpPr/>
          <p:nvPr/>
        </p:nvCxnSpPr>
        <p:spPr>
          <a:xfrm>
            <a:off x="7772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3" name="Google Shape;593;p17"/>
          <p:cNvCxnSpPr/>
          <p:nvPr/>
        </p:nvCxnSpPr>
        <p:spPr>
          <a:xfrm>
            <a:off x="10058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4" name="Google Shape;594;p17"/>
          <p:cNvCxnSpPr/>
          <p:nvPr/>
        </p:nvCxnSpPr>
        <p:spPr>
          <a:xfrm>
            <a:off x="114300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5" name="Google Shape;595;p17"/>
          <p:cNvCxnSpPr/>
          <p:nvPr/>
        </p:nvCxnSpPr>
        <p:spPr>
          <a:xfrm>
            <a:off x="0" y="1097280"/>
            <a:ext cx="12191695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6" name="Google Shape;596;p17"/>
          <p:cNvCxnSpPr/>
          <p:nvPr/>
        </p:nvCxnSpPr>
        <p:spPr>
          <a:xfrm>
            <a:off x="0" y="2743200"/>
            <a:ext cx="12191695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7" name="Google Shape;597;p17"/>
          <p:cNvCxnSpPr/>
          <p:nvPr/>
        </p:nvCxnSpPr>
        <p:spPr>
          <a:xfrm>
            <a:off x="0" y="4572000"/>
            <a:ext cx="12191695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8" name="Google Shape;598;p17"/>
          <p:cNvCxnSpPr/>
          <p:nvPr/>
        </p:nvCxnSpPr>
        <p:spPr>
          <a:xfrm>
            <a:off x="0" y="5943600"/>
            <a:ext cx="12191695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9" name="Google Shape;599;p17"/>
          <p:cNvSpPr txBox="1"/>
          <p:nvPr/>
        </p:nvSpPr>
        <p:spPr>
          <a:xfrm>
            <a:off x="822960" y="192024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7"/>
          <p:cNvSpPr txBox="1"/>
          <p:nvPr/>
        </p:nvSpPr>
        <p:spPr>
          <a:xfrm>
            <a:off x="1828800" y="388620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1" name="Google Shape;601;p17" title="sundaraminsta_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007" y="1097274"/>
            <a:ext cx="4350404" cy="4996977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7"/>
          <p:cNvSpPr txBox="1"/>
          <p:nvPr/>
        </p:nvSpPr>
        <p:spPr>
          <a:xfrm>
            <a:off x="5700325" y="1799050"/>
            <a:ext cx="6342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D44F71"/>
                </a:solidFill>
                <a:latin typeface="Play"/>
                <a:ea typeface="Play"/>
                <a:cs typeface="Play"/>
                <a:sym typeface="Play"/>
              </a:rPr>
              <a:t>Follow &amp; get </a:t>
            </a:r>
            <a:endParaRPr b="1" sz="4200">
              <a:solidFill>
                <a:srgbClr val="D44F7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sng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Industrial</a:t>
            </a:r>
            <a:r>
              <a:rPr b="1"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1"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Training,</a:t>
            </a:r>
            <a:endParaRPr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Internship,</a:t>
            </a:r>
            <a:endParaRPr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Placement Assistance</a:t>
            </a:r>
            <a:endParaRPr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30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7" name="Google Shape;607;g3f6d3f4b291_0_53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08" name="Google Shape;608;g3f6d3f4b291_0_53"/>
          <p:cNvCxnSpPr/>
          <p:nvPr/>
        </p:nvCxnSpPr>
        <p:spPr>
          <a:xfrm>
            <a:off x="201168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09" name="Google Shape;609;g3f6d3f4b291_0_53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0" name="Google Shape;610;g3f6d3f4b291_0_53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1" name="Google Shape;611;g3f6d3f4b291_0_53"/>
          <p:cNvCxnSpPr/>
          <p:nvPr/>
        </p:nvCxnSpPr>
        <p:spPr>
          <a:xfrm>
            <a:off x="7772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2" name="Google Shape;612;g3f6d3f4b291_0_53"/>
          <p:cNvCxnSpPr/>
          <p:nvPr/>
        </p:nvCxnSpPr>
        <p:spPr>
          <a:xfrm>
            <a:off x="10058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3" name="Google Shape;613;g3f6d3f4b291_0_53"/>
          <p:cNvCxnSpPr/>
          <p:nvPr/>
        </p:nvCxnSpPr>
        <p:spPr>
          <a:xfrm>
            <a:off x="114300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4" name="Google Shape;614;g3f6d3f4b291_0_53"/>
          <p:cNvCxnSpPr/>
          <p:nvPr/>
        </p:nvCxnSpPr>
        <p:spPr>
          <a:xfrm>
            <a:off x="0" y="109728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5" name="Google Shape;615;g3f6d3f4b291_0_53"/>
          <p:cNvCxnSpPr/>
          <p:nvPr/>
        </p:nvCxnSpPr>
        <p:spPr>
          <a:xfrm>
            <a:off x="0" y="27432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6" name="Google Shape;616;g3f6d3f4b291_0_53"/>
          <p:cNvCxnSpPr/>
          <p:nvPr/>
        </p:nvCxnSpPr>
        <p:spPr>
          <a:xfrm>
            <a:off x="0" y="45720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17" name="Google Shape;617;g3f6d3f4b291_0_53"/>
          <p:cNvCxnSpPr/>
          <p:nvPr/>
        </p:nvCxnSpPr>
        <p:spPr>
          <a:xfrm>
            <a:off x="0" y="59436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618" name="Google Shape;618;g3f6d3f4b291_0_53"/>
          <p:cNvSpPr txBox="1"/>
          <p:nvPr/>
        </p:nvSpPr>
        <p:spPr>
          <a:xfrm>
            <a:off x="822960" y="192024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f6d3f4b291_0_53"/>
          <p:cNvSpPr txBox="1"/>
          <p:nvPr/>
        </p:nvSpPr>
        <p:spPr>
          <a:xfrm>
            <a:off x="1828800" y="388620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f6d3f4b291_0_53"/>
          <p:cNvSpPr txBox="1"/>
          <p:nvPr/>
        </p:nvSpPr>
        <p:spPr>
          <a:xfrm>
            <a:off x="5700325" y="1799050"/>
            <a:ext cx="6342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D44F71"/>
                </a:solidFill>
                <a:latin typeface="Play"/>
                <a:ea typeface="Play"/>
                <a:cs typeface="Play"/>
                <a:sym typeface="Play"/>
              </a:rPr>
              <a:t>Follow &amp; get </a:t>
            </a:r>
            <a:endParaRPr b="1" sz="4200">
              <a:solidFill>
                <a:srgbClr val="D44F7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sng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Industrial</a:t>
            </a:r>
            <a:r>
              <a:rPr b="1"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1"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Training,</a:t>
            </a:r>
            <a:endParaRPr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Internship,</a:t>
            </a:r>
            <a:endParaRPr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Placement Assistance</a:t>
            </a:r>
            <a:endParaRPr sz="4200">
              <a:solidFill>
                <a:srgbClr val="F5F8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621" name="Google Shape;621;g3f6d3f4b291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625" y="1484850"/>
            <a:ext cx="4796699" cy="4287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30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6" name="Google Shape;626;g3f6d3f4b291_0_72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27" name="Google Shape;627;g3f6d3f4b291_0_72"/>
          <p:cNvCxnSpPr/>
          <p:nvPr/>
        </p:nvCxnSpPr>
        <p:spPr>
          <a:xfrm>
            <a:off x="201168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28" name="Google Shape;628;g3f6d3f4b291_0_72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29" name="Google Shape;629;g3f6d3f4b291_0_72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0" name="Google Shape;630;g3f6d3f4b291_0_72"/>
          <p:cNvCxnSpPr/>
          <p:nvPr/>
        </p:nvCxnSpPr>
        <p:spPr>
          <a:xfrm>
            <a:off x="7772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1" name="Google Shape;631;g3f6d3f4b291_0_72"/>
          <p:cNvCxnSpPr/>
          <p:nvPr/>
        </p:nvCxnSpPr>
        <p:spPr>
          <a:xfrm>
            <a:off x="10058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2" name="Google Shape;632;g3f6d3f4b291_0_72"/>
          <p:cNvCxnSpPr/>
          <p:nvPr/>
        </p:nvCxnSpPr>
        <p:spPr>
          <a:xfrm>
            <a:off x="114300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3" name="Google Shape;633;g3f6d3f4b291_0_72"/>
          <p:cNvCxnSpPr/>
          <p:nvPr/>
        </p:nvCxnSpPr>
        <p:spPr>
          <a:xfrm>
            <a:off x="0" y="109728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4" name="Google Shape;634;g3f6d3f4b291_0_72"/>
          <p:cNvCxnSpPr/>
          <p:nvPr/>
        </p:nvCxnSpPr>
        <p:spPr>
          <a:xfrm>
            <a:off x="0" y="27432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5" name="Google Shape;635;g3f6d3f4b291_0_72"/>
          <p:cNvCxnSpPr/>
          <p:nvPr/>
        </p:nvCxnSpPr>
        <p:spPr>
          <a:xfrm>
            <a:off x="0" y="45720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36" name="Google Shape;636;g3f6d3f4b291_0_72"/>
          <p:cNvCxnSpPr/>
          <p:nvPr/>
        </p:nvCxnSpPr>
        <p:spPr>
          <a:xfrm>
            <a:off x="0" y="59436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637" name="Google Shape;637;g3f6d3f4b291_0_72"/>
          <p:cNvSpPr txBox="1"/>
          <p:nvPr/>
        </p:nvSpPr>
        <p:spPr>
          <a:xfrm>
            <a:off x="822960" y="192024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f6d3f4b291_0_72"/>
          <p:cNvSpPr txBox="1"/>
          <p:nvPr/>
        </p:nvSpPr>
        <p:spPr>
          <a:xfrm>
            <a:off x="1828800" y="388620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f6d3f4b291_0_72"/>
          <p:cNvSpPr txBox="1"/>
          <p:nvPr/>
        </p:nvSpPr>
        <p:spPr>
          <a:xfrm>
            <a:off x="141600" y="473700"/>
            <a:ext cx="119085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CONTACT DETAILS</a:t>
            </a:r>
            <a:endParaRPr sz="42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+91-9500 84 61 62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contact@shanmugasundaram.info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https://shanmugasundaram.info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30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4" name="Google Shape;644;g3f6d3f4b291_0_18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45" name="Google Shape;645;g3f6d3f4b291_0_18"/>
          <p:cNvCxnSpPr/>
          <p:nvPr/>
        </p:nvCxnSpPr>
        <p:spPr>
          <a:xfrm>
            <a:off x="201168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46" name="Google Shape;646;g3f6d3f4b291_0_18"/>
          <p:cNvCxnSpPr/>
          <p:nvPr/>
        </p:nvCxnSpPr>
        <p:spPr>
          <a:xfrm>
            <a:off x="36576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47" name="Google Shape;647;g3f6d3f4b291_0_18"/>
          <p:cNvCxnSpPr/>
          <p:nvPr/>
        </p:nvCxnSpPr>
        <p:spPr>
          <a:xfrm>
            <a:off x="5486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48" name="Google Shape;648;g3f6d3f4b291_0_18"/>
          <p:cNvCxnSpPr/>
          <p:nvPr/>
        </p:nvCxnSpPr>
        <p:spPr>
          <a:xfrm>
            <a:off x="7772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49" name="Google Shape;649;g3f6d3f4b291_0_18"/>
          <p:cNvCxnSpPr/>
          <p:nvPr/>
        </p:nvCxnSpPr>
        <p:spPr>
          <a:xfrm>
            <a:off x="100584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50" name="Google Shape;650;g3f6d3f4b291_0_18"/>
          <p:cNvCxnSpPr/>
          <p:nvPr/>
        </p:nvCxnSpPr>
        <p:spPr>
          <a:xfrm>
            <a:off x="11430000" y="0"/>
            <a:ext cx="0" cy="685800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51" name="Google Shape;651;g3f6d3f4b291_0_18"/>
          <p:cNvCxnSpPr/>
          <p:nvPr/>
        </p:nvCxnSpPr>
        <p:spPr>
          <a:xfrm>
            <a:off x="0" y="109728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52" name="Google Shape;652;g3f6d3f4b291_0_18"/>
          <p:cNvCxnSpPr/>
          <p:nvPr/>
        </p:nvCxnSpPr>
        <p:spPr>
          <a:xfrm>
            <a:off x="0" y="27432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53" name="Google Shape;653;g3f6d3f4b291_0_18"/>
          <p:cNvCxnSpPr/>
          <p:nvPr/>
        </p:nvCxnSpPr>
        <p:spPr>
          <a:xfrm>
            <a:off x="0" y="45720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654" name="Google Shape;654;g3f6d3f4b291_0_18"/>
          <p:cNvCxnSpPr/>
          <p:nvPr/>
        </p:nvCxnSpPr>
        <p:spPr>
          <a:xfrm>
            <a:off x="0" y="5943600"/>
            <a:ext cx="12191700" cy="0"/>
          </a:xfrm>
          <a:prstGeom prst="straightConnector1">
            <a:avLst/>
          </a:prstGeom>
          <a:noFill/>
          <a:ln cap="flat" cmpd="sng" w="25400">
            <a:solidFill>
              <a:srgbClr val="142D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655" name="Google Shape;655;g3f6d3f4b291_0_18"/>
          <p:cNvSpPr txBox="1"/>
          <p:nvPr/>
        </p:nvSpPr>
        <p:spPr>
          <a:xfrm>
            <a:off x="822960" y="1920240"/>
            <a:ext cx="1051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8FC"/>
                </a:solidFill>
                <a:latin typeface="Play"/>
                <a:ea typeface="Play"/>
                <a:cs typeface="Play"/>
                <a:sym typeface="Play"/>
              </a:rPr>
              <a:t>Thank You!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0DCF5"/>
                </a:solidFill>
                <a:latin typeface="Calibri"/>
                <a:ea typeface="Calibri"/>
                <a:cs typeface="Calibri"/>
                <a:sym typeface="Calibri"/>
              </a:rPr>
              <a:t>AI-Powered Phishing Email Detector</a:t>
            </a:r>
            <a:endParaRPr/>
          </a:p>
        </p:txBody>
      </p:sp>
      <p:sp>
        <p:nvSpPr>
          <p:cNvPr id="656" name="Google Shape;656;g3f6d3f4b291_0_18"/>
          <p:cNvSpPr txBox="1"/>
          <p:nvPr/>
        </p:nvSpPr>
        <p:spPr>
          <a:xfrm>
            <a:off x="1828800" y="3886200"/>
            <a:ext cx="85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1EBF5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2137DD14AA504AD087CB7D403B842A9E_12</vt:lpwstr>
  </property>
  <property fmtid="{D5CDD505-2E9C-101B-9397-08002B2CF9AE}" pid="3" name="KSOProductBuildVer">
    <vt:lpwstr>1033-12.2.0.23196</vt:lpwstr>
  </property>
</Properties>
</file>